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Black Han Sans" charset="1" panose="00000000000000000000"/>
      <p:regular r:id="rId15"/>
    </p:embeddedFont>
    <p:embeddedFont>
      <p:font typeface="210 디딤고딕 Light" charset="1" panose="02020503020101020101"/>
      <p:regular r:id="rId16"/>
    </p:embeddedFont>
    <p:embeddedFont>
      <p:font typeface="210 디딤고딕 Bold" charset="1" panose="02020503020101020101"/>
      <p:regular r:id="rId17"/>
    </p:embeddedFont>
    <p:embeddedFont>
      <p:font typeface="Source Han Sans KR Heavy" charset="1" panose="020B0A00000000000000"/>
      <p:regular r:id="rId18"/>
    </p:embeddedFont>
    <p:embeddedFont>
      <p:font typeface="210 디딤고딕" charset="1" panose="02020503020101020101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Relationship Id="rId6" Target="../media/image9.jpeg" Type="http://schemas.openxmlformats.org/officeDocument/2006/relationships/image"/><Relationship Id="rId7" Target="../media/VAHOzgMtot4.mp4" Type="http://schemas.openxmlformats.org/officeDocument/2006/relationships/video"/><Relationship Id="rId8" Target="../media/VAHOzgMtot4.mp4" Type="http://schemas.microsoft.com/office/2007/relationships/media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95847" y="7423337"/>
            <a:ext cx="2863663" cy="28636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19319D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9319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31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716351" y="1942816"/>
            <a:ext cx="3432702" cy="343270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571500" cap="sq">
              <a:solidFill>
                <a:srgbClr val="19319D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28700" y="1147265"/>
            <a:ext cx="16230600" cy="0"/>
          </a:xfrm>
          <a:prstGeom prst="line">
            <a:avLst/>
          </a:prstGeom>
          <a:ln cap="flat" w="28575">
            <a:solidFill>
              <a:srgbClr val="193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8796734" y="3314613"/>
            <a:ext cx="694532" cy="0"/>
          </a:xfrm>
          <a:prstGeom prst="line">
            <a:avLst/>
          </a:prstGeom>
          <a:ln cap="flat" w="28575">
            <a:solidFill>
              <a:srgbClr val="193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5809723" y="6603796"/>
            <a:ext cx="1449577" cy="1433763"/>
          </a:xfrm>
          <a:custGeom>
            <a:avLst/>
            <a:gdLst/>
            <a:ahLst/>
            <a:cxnLst/>
            <a:rect r="r" b="b" t="t" l="l"/>
            <a:pathLst>
              <a:path h="1433763" w="1449577">
                <a:moveTo>
                  <a:pt x="0" y="0"/>
                </a:moveTo>
                <a:lnTo>
                  <a:pt x="1449577" y="0"/>
                </a:lnTo>
                <a:lnTo>
                  <a:pt x="1449577" y="1433763"/>
                </a:lnTo>
                <a:lnTo>
                  <a:pt x="0" y="14337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307205" y="3601185"/>
            <a:ext cx="13673589" cy="2897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3"/>
              </a:lnSpc>
            </a:pPr>
            <a:r>
              <a:rPr lang="en-US" sz="10381">
                <a:solidFill>
                  <a:srgbClr val="19319D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물리엔진 기반 인터랙티브 프로그램 제작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76747"/>
            <a:ext cx="4457297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19319D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아르카디아 중간발표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48807" y="9519602"/>
            <a:ext cx="1390387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BFDFF"/>
                </a:solidFill>
                <a:latin typeface="210 디딤고딕 Bold"/>
                <a:ea typeface="210 디딤고딕 Bold"/>
                <a:cs typeface="210 디딤고딕 Bold"/>
                <a:sym typeface="210 디딤고딕 Bold"/>
              </a:rPr>
              <a:t>오버플로우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43892" y="8813315"/>
            <a:ext cx="2710668" cy="271066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19319D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39982" y="1428253"/>
            <a:ext cx="2679964" cy="267996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571500" cap="sq">
              <a:solidFill>
                <a:srgbClr val="19319D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038274" y="3402289"/>
            <a:ext cx="12247622" cy="4203449"/>
            <a:chOff x="0" y="0"/>
            <a:chExt cx="3920509" cy="13455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20509" cy="1345540"/>
            </a:xfrm>
            <a:custGeom>
              <a:avLst/>
              <a:gdLst/>
              <a:ahLst/>
              <a:cxnLst/>
              <a:rect r="r" b="b" t="t" l="l"/>
              <a:pathLst>
                <a:path h="1345540" w="3920509">
                  <a:moveTo>
                    <a:pt x="0" y="0"/>
                  </a:moveTo>
                  <a:lnTo>
                    <a:pt x="3920509" y="0"/>
                  </a:lnTo>
                  <a:lnTo>
                    <a:pt x="3920509" y="1345540"/>
                  </a:lnTo>
                  <a:lnTo>
                    <a:pt x="0" y="1345540"/>
                  </a:lnTo>
                  <a:close/>
                </a:path>
              </a:pathLst>
            </a:custGeom>
            <a:solidFill>
              <a:srgbClr val="19319D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920509" cy="1393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28700" y="1147265"/>
            <a:ext cx="16230600" cy="0"/>
          </a:xfrm>
          <a:prstGeom prst="line">
            <a:avLst/>
          </a:prstGeom>
          <a:ln cap="flat" w="28575">
            <a:solidFill>
              <a:srgbClr val="193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5709577" y="8994498"/>
            <a:ext cx="1372131" cy="1357163"/>
          </a:xfrm>
          <a:custGeom>
            <a:avLst/>
            <a:gdLst/>
            <a:ahLst/>
            <a:cxnLst/>
            <a:rect r="r" b="b" t="t" l="l"/>
            <a:pathLst>
              <a:path h="1357163" w="1372131">
                <a:moveTo>
                  <a:pt x="0" y="0"/>
                </a:moveTo>
                <a:lnTo>
                  <a:pt x="1372131" y="0"/>
                </a:lnTo>
                <a:lnTo>
                  <a:pt x="1372131" y="1357162"/>
                </a:lnTo>
                <a:lnTo>
                  <a:pt x="0" y="1357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948270" y="1923766"/>
            <a:ext cx="8391461" cy="111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55"/>
              </a:lnSpc>
            </a:pPr>
            <a:r>
              <a:rPr lang="en-US" sz="7199">
                <a:solidFill>
                  <a:srgbClr val="19319D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목차 구성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36404" y="3573342"/>
            <a:ext cx="938819" cy="807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60"/>
              </a:lnSpc>
              <a:spcBef>
                <a:spcPct val="0"/>
              </a:spcBef>
            </a:pPr>
            <a:r>
              <a:rPr lang="en-US" sz="5265" strike="noStrike" u="none">
                <a:solidFill>
                  <a:srgbClr val="19319D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88326" y="3573342"/>
            <a:ext cx="938819" cy="807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60"/>
              </a:lnSpc>
              <a:spcBef>
                <a:spcPct val="0"/>
              </a:spcBef>
            </a:pPr>
            <a:r>
              <a:rPr lang="en-US" sz="5265" strike="noStrike" u="none">
                <a:solidFill>
                  <a:srgbClr val="19319D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40248" y="3573342"/>
            <a:ext cx="938819" cy="807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60"/>
              </a:lnSpc>
              <a:spcBef>
                <a:spcPct val="0"/>
              </a:spcBef>
            </a:pPr>
            <a:r>
              <a:rPr lang="en-US" sz="5265" strike="noStrike" u="none">
                <a:solidFill>
                  <a:srgbClr val="19319D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92170" y="3573342"/>
            <a:ext cx="938819" cy="807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60"/>
              </a:lnSpc>
              <a:spcBef>
                <a:spcPct val="0"/>
              </a:spcBef>
            </a:pPr>
            <a:r>
              <a:rPr lang="en-US" sz="5265" strike="noStrike" u="none">
                <a:solidFill>
                  <a:srgbClr val="19319D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36404" y="4977509"/>
            <a:ext cx="716280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0"/>
              </a:lnSpc>
              <a:spcBef>
                <a:spcPct val="0"/>
              </a:spcBef>
            </a:pPr>
            <a:r>
              <a:rPr lang="en-US" sz="3000">
                <a:solidFill>
                  <a:srgbClr val="0B1544"/>
                </a:solidFill>
                <a:latin typeface="210 디딤고딕 Bold"/>
                <a:ea typeface="210 디딤고딕 Bold"/>
                <a:cs typeface="210 디딤고딕 Bold"/>
                <a:sym typeface="210 디딤고딕 Bold"/>
              </a:rPr>
              <a:t>계기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9276" y="4968958"/>
            <a:ext cx="2455674" cy="1722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000">
                <a:solidFill>
                  <a:srgbClr val="0B1544"/>
                </a:solidFill>
                <a:latin typeface="210 디딤고딕 Bold"/>
                <a:ea typeface="210 디딤고딕 Bold"/>
                <a:cs typeface="210 디딤고딕 Bold"/>
                <a:sym typeface="210 디딤고딕 Bold"/>
              </a:rPr>
              <a:t>현재 상황</a:t>
            </a:r>
          </a:p>
          <a:p>
            <a:pPr algn="l">
              <a:lnSpc>
                <a:spcPts val="4590"/>
              </a:lnSpc>
            </a:pPr>
            <a:r>
              <a:rPr lang="en-US" sz="3000">
                <a:solidFill>
                  <a:srgbClr val="0B1544"/>
                </a:solidFill>
                <a:latin typeface="210 디딤고딕 Bold"/>
                <a:ea typeface="210 디딤고딕 Bold"/>
                <a:cs typeface="210 디딤고딕 Bold"/>
                <a:sym typeface="210 디딤고딕 Bold"/>
              </a:rPr>
              <a:t>및 특이사항</a:t>
            </a:r>
          </a:p>
          <a:p>
            <a:pPr algn="l" marL="0" indent="0" lvl="0">
              <a:lnSpc>
                <a:spcPts val="459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814583" y="4968958"/>
            <a:ext cx="2494015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0"/>
              </a:lnSpc>
              <a:spcBef>
                <a:spcPct val="0"/>
              </a:spcBef>
            </a:pPr>
            <a:r>
              <a:rPr lang="en-US" sz="3000">
                <a:solidFill>
                  <a:srgbClr val="0B1544"/>
                </a:solidFill>
                <a:latin typeface="210 디딤고딕 Bold"/>
                <a:ea typeface="210 디딤고딕 Bold"/>
                <a:cs typeface="210 디딤고딕 Bold"/>
                <a:sym typeface="210 디딤고딕 Bold"/>
              </a:rPr>
              <a:t>시연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92170" y="4968958"/>
            <a:ext cx="2192122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0"/>
              </a:lnSpc>
              <a:spcBef>
                <a:spcPct val="0"/>
              </a:spcBef>
            </a:pPr>
            <a:r>
              <a:rPr lang="en-US" sz="3000">
                <a:solidFill>
                  <a:srgbClr val="0B1544"/>
                </a:solidFill>
                <a:latin typeface="210 디딤고딕 Bold"/>
                <a:ea typeface="210 디딤고딕 Bold"/>
                <a:cs typeface="210 디딤고딕 Bold"/>
                <a:sym typeface="210 디딤고딕 Bold"/>
              </a:rPr>
              <a:t>추후 계획</a:t>
            </a:r>
          </a:p>
        </p:txBody>
      </p:sp>
      <p:sp>
        <p:nvSpPr>
          <p:cNvPr name="AutoShape 22" id="22"/>
          <p:cNvSpPr/>
          <p:nvPr/>
        </p:nvSpPr>
        <p:spPr>
          <a:xfrm>
            <a:off x="6042425" y="3699184"/>
            <a:ext cx="0" cy="3425777"/>
          </a:xfrm>
          <a:prstGeom prst="line">
            <a:avLst/>
          </a:prstGeom>
          <a:ln cap="flat" w="19050">
            <a:solidFill>
              <a:srgbClr val="19319D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9301536" y="3699184"/>
            <a:ext cx="0" cy="3425777"/>
          </a:xfrm>
          <a:prstGeom prst="line">
            <a:avLst/>
          </a:prstGeom>
          <a:ln cap="flat" w="19050">
            <a:solidFill>
              <a:srgbClr val="19319D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2439038" y="3699184"/>
            <a:ext cx="0" cy="3425777"/>
          </a:xfrm>
          <a:prstGeom prst="line">
            <a:avLst/>
          </a:prstGeom>
          <a:ln cap="flat" w="19050">
            <a:solidFill>
              <a:srgbClr val="19319D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12802003" y="476747"/>
            <a:ext cx="4457297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19319D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Page 02</a:t>
            </a:r>
          </a:p>
        </p:txBody>
      </p:sp>
      <p:sp>
        <p:nvSpPr>
          <p:cNvPr name="AutoShape 26" id="26"/>
          <p:cNvSpPr/>
          <p:nvPr/>
        </p:nvSpPr>
        <p:spPr>
          <a:xfrm>
            <a:off x="3536404" y="4485023"/>
            <a:ext cx="571446" cy="0"/>
          </a:xfrm>
          <a:prstGeom prst="line">
            <a:avLst/>
          </a:prstGeom>
          <a:ln cap="flat" w="19050">
            <a:solidFill>
              <a:srgbClr val="193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6688326" y="4485023"/>
            <a:ext cx="571446" cy="0"/>
          </a:xfrm>
          <a:prstGeom prst="line">
            <a:avLst/>
          </a:prstGeom>
          <a:ln cap="flat" w="19050">
            <a:solidFill>
              <a:srgbClr val="193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9840248" y="4496778"/>
            <a:ext cx="571446" cy="0"/>
          </a:xfrm>
          <a:prstGeom prst="line">
            <a:avLst/>
          </a:prstGeom>
          <a:ln cap="flat" w="19050">
            <a:solidFill>
              <a:srgbClr val="193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2992170" y="4485023"/>
            <a:ext cx="571446" cy="0"/>
          </a:xfrm>
          <a:prstGeom prst="line">
            <a:avLst/>
          </a:prstGeom>
          <a:ln cap="flat" w="19050">
            <a:solidFill>
              <a:srgbClr val="19319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93412" y="3556013"/>
            <a:ext cx="7687761" cy="5565043"/>
            <a:chOff x="0" y="0"/>
            <a:chExt cx="2024760" cy="14656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4760" cy="1465690"/>
            </a:xfrm>
            <a:custGeom>
              <a:avLst/>
              <a:gdLst/>
              <a:ahLst/>
              <a:cxnLst/>
              <a:rect r="r" b="b" t="t" l="l"/>
              <a:pathLst>
                <a:path h="1465690" w="2024760">
                  <a:moveTo>
                    <a:pt x="0" y="0"/>
                  </a:moveTo>
                  <a:lnTo>
                    <a:pt x="2024760" y="0"/>
                  </a:lnTo>
                  <a:lnTo>
                    <a:pt x="2024760" y="1465690"/>
                  </a:lnTo>
                  <a:lnTo>
                    <a:pt x="0" y="1465690"/>
                  </a:lnTo>
                  <a:close/>
                </a:path>
              </a:pathLst>
            </a:custGeom>
            <a:solidFill>
              <a:srgbClr val="19319D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24760" cy="151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43892" y="8813315"/>
            <a:ext cx="2710668" cy="271066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19319D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1147265"/>
            <a:ext cx="16230600" cy="0"/>
          </a:xfrm>
          <a:prstGeom prst="line">
            <a:avLst/>
          </a:prstGeom>
          <a:ln cap="flat" w="28575">
            <a:solidFill>
              <a:srgbClr val="193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283740" y="8037559"/>
            <a:ext cx="1372131" cy="1357163"/>
          </a:xfrm>
          <a:custGeom>
            <a:avLst/>
            <a:gdLst/>
            <a:ahLst/>
            <a:cxnLst/>
            <a:rect r="r" b="b" t="t" l="l"/>
            <a:pathLst>
              <a:path h="1357163" w="1372131">
                <a:moveTo>
                  <a:pt x="0" y="0"/>
                </a:moveTo>
                <a:lnTo>
                  <a:pt x="1372131" y="0"/>
                </a:lnTo>
                <a:lnTo>
                  <a:pt x="1372131" y="1357163"/>
                </a:lnTo>
                <a:lnTo>
                  <a:pt x="0" y="13571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803972" y="3556013"/>
            <a:ext cx="6288596" cy="5565043"/>
            <a:chOff x="0" y="0"/>
            <a:chExt cx="833469" cy="737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3469" cy="737572"/>
            </a:xfrm>
            <a:custGeom>
              <a:avLst/>
              <a:gdLst/>
              <a:ahLst/>
              <a:cxnLst/>
              <a:rect r="r" b="b" t="t" l="l"/>
              <a:pathLst>
                <a:path h="737572" w="833469">
                  <a:moveTo>
                    <a:pt x="0" y="0"/>
                  </a:moveTo>
                  <a:lnTo>
                    <a:pt x="833469" y="0"/>
                  </a:lnTo>
                  <a:lnTo>
                    <a:pt x="833469" y="737572"/>
                  </a:lnTo>
                  <a:lnTo>
                    <a:pt x="0" y="737572"/>
                  </a:lnTo>
                  <a:close/>
                </a:path>
              </a:pathLst>
            </a:custGeom>
            <a:blipFill>
              <a:blip r:embed="rId4"/>
              <a:stretch>
                <a:fillRect l="-2533" t="0" r="-2533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948270" y="1923766"/>
            <a:ext cx="8391461" cy="111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55"/>
              </a:lnSpc>
              <a:spcBef>
                <a:spcPct val="0"/>
              </a:spcBef>
            </a:pPr>
            <a:r>
              <a:rPr lang="en-US" sz="7199" strike="noStrike" u="none">
                <a:solidFill>
                  <a:srgbClr val="19319D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프로젝트 계기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02003" y="476747"/>
            <a:ext cx="4457297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19319D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Page 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37095" y="5355644"/>
            <a:ext cx="8600394" cy="180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8"/>
              </a:lnSpc>
            </a:pPr>
            <a:r>
              <a:rPr lang="en-US" sz="4842">
                <a:solidFill>
                  <a:srgbClr val="0B1544"/>
                </a:solidFill>
                <a:latin typeface="210 디딤고딕 Bold"/>
                <a:ea typeface="210 디딤고딕 Bold"/>
                <a:cs typeface="210 디딤고딕 Bold"/>
                <a:sym typeface="210 디딤고딕 Bold"/>
              </a:rPr>
              <a:t>가상 실험실을 통한</a:t>
            </a:r>
          </a:p>
          <a:p>
            <a:pPr algn="ctr" marL="0" indent="0" lvl="0">
              <a:lnSpc>
                <a:spcPts val="7408"/>
              </a:lnSpc>
              <a:spcBef>
                <a:spcPct val="0"/>
              </a:spcBef>
            </a:pPr>
            <a:r>
              <a:rPr lang="en-US" sz="4842">
                <a:solidFill>
                  <a:srgbClr val="0B1544"/>
                </a:solidFill>
                <a:latin typeface="210 디딤고딕 Bold"/>
                <a:ea typeface="210 디딤고딕 Bold"/>
                <a:cs typeface="210 디딤고딕 Bold"/>
                <a:sym typeface="210 디딤고딕 Bold"/>
              </a:rPr>
              <a:t>과학적 원리 이해도 향상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43892" y="8813315"/>
            <a:ext cx="2710668" cy="271066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19319D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1147265"/>
            <a:ext cx="16230600" cy="0"/>
          </a:xfrm>
          <a:prstGeom prst="line">
            <a:avLst/>
          </a:prstGeom>
          <a:ln cap="flat" w="28575">
            <a:solidFill>
              <a:srgbClr val="193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283740" y="8037559"/>
            <a:ext cx="1372131" cy="1357163"/>
          </a:xfrm>
          <a:custGeom>
            <a:avLst/>
            <a:gdLst/>
            <a:ahLst/>
            <a:cxnLst/>
            <a:rect r="r" b="b" t="t" l="l"/>
            <a:pathLst>
              <a:path h="1357163" w="1372131">
                <a:moveTo>
                  <a:pt x="0" y="0"/>
                </a:moveTo>
                <a:lnTo>
                  <a:pt x="1372131" y="0"/>
                </a:lnTo>
                <a:lnTo>
                  <a:pt x="1372131" y="1357163"/>
                </a:lnTo>
                <a:lnTo>
                  <a:pt x="0" y="13571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339982" y="1428253"/>
            <a:ext cx="2679964" cy="26799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571500" cap="sq">
              <a:solidFill>
                <a:srgbClr val="19319D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203031" y="2386308"/>
            <a:ext cx="9881938" cy="7782341"/>
          </a:xfrm>
          <a:custGeom>
            <a:avLst/>
            <a:gdLst/>
            <a:ahLst/>
            <a:cxnLst/>
            <a:rect r="r" b="b" t="t" l="l"/>
            <a:pathLst>
              <a:path h="7782341" w="9881938">
                <a:moveTo>
                  <a:pt x="0" y="0"/>
                </a:moveTo>
                <a:lnTo>
                  <a:pt x="9881938" y="0"/>
                </a:lnTo>
                <a:lnTo>
                  <a:pt x="9881938" y="7782341"/>
                </a:lnTo>
                <a:lnTo>
                  <a:pt x="0" y="7782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48270" y="1352266"/>
            <a:ext cx="8391461" cy="111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55"/>
              </a:lnSpc>
              <a:spcBef>
                <a:spcPct val="0"/>
              </a:spcBef>
            </a:pPr>
            <a:r>
              <a:rPr lang="en-US" sz="7199">
                <a:solidFill>
                  <a:srgbClr val="19319D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현재 진행 상황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02003" y="476747"/>
            <a:ext cx="4457297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19319D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Page 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70132" y="9585222"/>
            <a:ext cx="4784762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19319D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html, js, css로 구현한 실험실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43892" y="8813315"/>
            <a:ext cx="2710668" cy="271066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19319D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1147265"/>
            <a:ext cx="16230600" cy="0"/>
          </a:xfrm>
          <a:prstGeom prst="line">
            <a:avLst/>
          </a:prstGeom>
          <a:ln cap="flat" w="28575">
            <a:solidFill>
              <a:srgbClr val="193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283740" y="8037559"/>
            <a:ext cx="1372131" cy="1357163"/>
          </a:xfrm>
          <a:custGeom>
            <a:avLst/>
            <a:gdLst/>
            <a:ahLst/>
            <a:cxnLst/>
            <a:rect r="r" b="b" t="t" l="l"/>
            <a:pathLst>
              <a:path h="1357163" w="1372131">
                <a:moveTo>
                  <a:pt x="0" y="0"/>
                </a:moveTo>
                <a:lnTo>
                  <a:pt x="1372131" y="0"/>
                </a:lnTo>
                <a:lnTo>
                  <a:pt x="1372131" y="1357163"/>
                </a:lnTo>
                <a:lnTo>
                  <a:pt x="0" y="13571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339982" y="1428253"/>
            <a:ext cx="2679964" cy="26799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571500" cap="sq">
              <a:solidFill>
                <a:srgbClr val="19319D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864827" y="2467834"/>
            <a:ext cx="12444045" cy="6986131"/>
          </a:xfrm>
          <a:custGeom>
            <a:avLst/>
            <a:gdLst/>
            <a:ahLst/>
            <a:cxnLst/>
            <a:rect r="r" b="b" t="t" l="l"/>
            <a:pathLst>
              <a:path h="6986131" w="12444045">
                <a:moveTo>
                  <a:pt x="0" y="0"/>
                </a:moveTo>
                <a:lnTo>
                  <a:pt x="12444046" y="0"/>
                </a:lnTo>
                <a:lnTo>
                  <a:pt x="12444046" y="6986130"/>
                </a:lnTo>
                <a:lnTo>
                  <a:pt x="0" y="698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48270" y="1352266"/>
            <a:ext cx="8391461" cy="111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55"/>
              </a:lnSpc>
              <a:spcBef>
                <a:spcPct val="0"/>
              </a:spcBef>
            </a:pPr>
            <a:r>
              <a:rPr lang="en-US" sz="7199">
                <a:solidFill>
                  <a:srgbClr val="19319D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현재 진행 상황(1)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02003" y="476747"/>
            <a:ext cx="4457297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19319D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Page 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55889" y="9498711"/>
            <a:ext cx="4784762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19319D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html, js, css로 구현한 자기력선 실험실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43892" y="8813315"/>
            <a:ext cx="2710668" cy="271066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19319D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1147265"/>
            <a:ext cx="16230600" cy="0"/>
          </a:xfrm>
          <a:prstGeom prst="line">
            <a:avLst/>
          </a:prstGeom>
          <a:ln cap="flat" w="28575">
            <a:solidFill>
              <a:srgbClr val="193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283740" y="8037559"/>
            <a:ext cx="1372131" cy="1357163"/>
          </a:xfrm>
          <a:custGeom>
            <a:avLst/>
            <a:gdLst/>
            <a:ahLst/>
            <a:cxnLst/>
            <a:rect r="r" b="b" t="t" l="l"/>
            <a:pathLst>
              <a:path h="1357163" w="1372131">
                <a:moveTo>
                  <a:pt x="0" y="0"/>
                </a:moveTo>
                <a:lnTo>
                  <a:pt x="1372131" y="0"/>
                </a:lnTo>
                <a:lnTo>
                  <a:pt x="1372131" y="1357163"/>
                </a:lnTo>
                <a:lnTo>
                  <a:pt x="0" y="13571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339982" y="1428253"/>
            <a:ext cx="2679964" cy="26799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571500" cap="sq">
              <a:solidFill>
                <a:srgbClr val="19319D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883005" y="2329623"/>
            <a:ext cx="10317864" cy="7609682"/>
          </a:xfrm>
          <a:custGeom>
            <a:avLst/>
            <a:gdLst/>
            <a:ahLst/>
            <a:cxnLst/>
            <a:rect r="r" b="b" t="t" l="l"/>
            <a:pathLst>
              <a:path h="7609682" w="10317864">
                <a:moveTo>
                  <a:pt x="0" y="0"/>
                </a:moveTo>
                <a:lnTo>
                  <a:pt x="10317864" y="0"/>
                </a:lnTo>
                <a:lnTo>
                  <a:pt x="10317864" y="7609682"/>
                </a:lnTo>
                <a:lnTo>
                  <a:pt x="0" y="7609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48270" y="1352266"/>
            <a:ext cx="8391461" cy="111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55"/>
              </a:lnSpc>
              <a:spcBef>
                <a:spcPct val="0"/>
              </a:spcBef>
            </a:pPr>
            <a:r>
              <a:rPr lang="en-US" sz="7199">
                <a:solidFill>
                  <a:srgbClr val="19319D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현재 진행 상황(2)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02003" y="476747"/>
            <a:ext cx="4457297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19319D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Page 04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43892" y="8813315"/>
            <a:ext cx="2710668" cy="271066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19319D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1147265"/>
            <a:ext cx="16230600" cy="0"/>
          </a:xfrm>
          <a:prstGeom prst="line">
            <a:avLst/>
          </a:prstGeom>
          <a:ln cap="flat" w="28575">
            <a:solidFill>
              <a:srgbClr val="193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057826" y="8475238"/>
            <a:ext cx="1372131" cy="1357163"/>
          </a:xfrm>
          <a:custGeom>
            <a:avLst/>
            <a:gdLst/>
            <a:ahLst/>
            <a:cxnLst/>
            <a:rect r="r" b="b" t="t" l="l"/>
            <a:pathLst>
              <a:path h="1357163" w="1372131">
                <a:moveTo>
                  <a:pt x="0" y="0"/>
                </a:moveTo>
                <a:lnTo>
                  <a:pt x="1372132" y="0"/>
                </a:lnTo>
                <a:lnTo>
                  <a:pt x="1372132" y="1357163"/>
                </a:lnTo>
                <a:lnTo>
                  <a:pt x="0" y="13571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339982" y="1428253"/>
            <a:ext cx="2679964" cy="26799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571500" cap="sq">
              <a:solidFill>
                <a:srgbClr val="19319D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61849" y="6865708"/>
            <a:ext cx="5443971" cy="930445"/>
            <a:chOff x="0" y="0"/>
            <a:chExt cx="1287070" cy="2199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7070" cy="219977"/>
            </a:xfrm>
            <a:custGeom>
              <a:avLst/>
              <a:gdLst/>
              <a:ahLst/>
              <a:cxnLst/>
              <a:rect r="r" b="b" t="t" l="l"/>
              <a:pathLst>
                <a:path h="219977" w="1287070">
                  <a:moveTo>
                    <a:pt x="0" y="0"/>
                  </a:moveTo>
                  <a:lnTo>
                    <a:pt x="1287070" y="0"/>
                  </a:lnTo>
                  <a:lnTo>
                    <a:pt x="1287070" y="219977"/>
                  </a:lnTo>
                  <a:lnTo>
                    <a:pt x="0" y="219977"/>
                  </a:lnTo>
                  <a:close/>
                </a:path>
              </a:pathLst>
            </a:custGeom>
            <a:solidFill>
              <a:srgbClr val="19319D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87070" cy="267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19005" y="6865708"/>
            <a:ext cx="5443971" cy="930445"/>
            <a:chOff x="0" y="0"/>
            <a:chExt cx="1287070" cy="21997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7070" cy="219977"/>
            </a:xfrm>
            <a:custGeom>
              <a:avLst/>
              <a:gdLst/>
              <a:ahLst/>
              <a:cxnLst/>
              <a:rect r="r" b="b" t="t" l="l"/>
              <a:pathLst>
                <a:path h="219977" w="1287070">
                  <a:moveTo>
                    <a:pt x="0" y="0"/>
                  </a:moveTo>
                  <a:lnTo>
                    <a:pt x="1287070" y="0"/>
                  </a:lnTo>
                  <a:lnTo>
                    <a:pt x="1287070" y="219977"/>
                  </a:lnTo>
                  <a:lnTo>
                    <a:pt x="0" y="219977"/>
                  </a:lnTo>
                  <a:close/>
                </a:path>
              </a:pathLst>
            </a:custGeom>
            <a:solidFill>
              <a:srgbClr val="19319D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87070" cy="267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75194" y="6865708"/>
            <a:ext cx="5443971" cy="930445"/>
            <a:chOff x="0" y="0"/>
            <a:chExt cx="1287070" cy="2199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7070" cy="219977"/>
            </a:xfrm>
            <a:custGeom>
              <a:avLst/>
              <a:gdLst/>
              <a:ahLst/>
              <a:cxnLst/>
              <a:rect r="r" b="b" t="t" l="l"/>
              <a:pathLst>
                <a:path h="219977" w="1287070">
                  <a:moveTo>
                    <a:pt x="0" y="0"/>
                  </a:moveTo>
                  <a:lnTo>
                    <a:pt x="1287070" y="0"/>
                  </a:lnTo>
                  <a:lnTo>
                    <a:pt x="1287070" y="219977"/>
                  </a:lnTo>
                  <a:lnTo>
                    <a:pt x="0" y="219977"/>
                  </a:lnTo>
                  <a:close/>
                </a:path>
              </a:pathLst>
            </a:custGeom>
            <a:solidFill>
              <a:srgbClr val="19319D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287070" cy="267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61849" y="4029934"/>
            <a:ext cx="5443971" cy="2835774"/>
            <a:chOff x="0" y="0"/>
            <a:chExt cx="833469" cy="4341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33469" cy="434156"/>
            </a:xfrm>
            <a:custGeom>
              <a:avLst/>
              <a:gdLst/>
              <a:ahLst/>
              <a:cxnLst/>
              <a:rect r="r" b="b" t="t" l="l"/>
              <a:pathLst>
                <a:path h="434156" w="833469">
                  <a:moveTo>
                    <a:pt x="0" y="0"/>
                  </a:moveTo>
                  <a:lnTo>
                    <a:pt x="833469" y="0"/>
                  </a:lnTo>
                  <a:lnTo>
                    <a:pt x="833469" y="434156"/>
                  </a:lnTo>
                  <a:lnTo>
                    <a:pt x="0" y="434156"/>
                  </a:lnTo>
                  <a:close/>
                </a:path>
              </a:pathLst>
            </a:custGeom>
            <a:blipFill>
              <a:blip r:embed="rId4"/>
              <a:stretch>
                <a:fillRect l="0" t="-19654" r="0" b="-19654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082180" y="4031247"/>
            <a:ext cx="5443971" cy="2835774"/>
            <a:chOff x="0" y="0"/>
            <a:chExt cx="833469" cy="4341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33469" cy="434156"/>
            </a:xfrm>
            <a:custGeom>
              <a:avLst/>
              <a:gdLst/>
              <a:ahLst/>
              <a:cxnLst/>
              <a:rect r="r" b="b" t="t" l="l"/>
              <a:pathLst>
                <a:path h="434156" w="833469">
                  <a:moveTo>
                    <a:pt x="0" y="0"/>
                  </a:moveTo>
                  <a:lnTo>
                    <a:pt x="833469" y="0"/>
                  </a:lnTo>
                  <a:lnTo>
                    <a:pt x="833469" y="434156"/>
                  </a:lnTo>
                  <a:lnTo>
                    <a:pt x="0" y="434156"/>
                  </a:lnTo>
                  <a:close/>
                </a:path>
              </a:pathLst>
            </a:custGeom>
            <a:blipFill>
              <a:blip r:embed="rId5"/>
              <a:stretch>
                <a:fillRect l="0" t="-3992" r="0" b="-3992"/>
              </a:stretch>
            </a:blipFill>
          </p:spPr>
        </p:sp>
      </p:grpSp>
      <p:pic>
        <p:nvPicPr>
          <p:cNvPr name="Picture 23" id="23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6428530" y="3973599"/>
            <a:ext cx="5443971" cy="2892109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4948270" y="1923766"/>
            <a:ext cx="8391461" cy="111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55"/>
              </a:lnSpc>
              <a:spcBef>
                <a:spcPct val="0"/>
              </a:spcBef>
            </a:pPr>
            <a:r>
              <a:rPr lang="en-US" sz="7199">
                <a:solidFill>
                  <a:srgbClr val="19319D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현재 개발중인 실험들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02003" y="476747"/>
            <a:ext cx="4457297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19319D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Page 06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14346" y="7046569"/>
            <a:ext cx="3738977" cy="48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90"/>
              </a:lnSpc>
              <a:spcBef>
                <a:spcPct val="0"/>
              </a:spcBef>
            </a:pPr>
            <a:r>
              <a:rPr lang="en-US" sz="2673">
                <a:solidFill>
                  <a:srgbClr val="FBFDFF"/>
                </a:solidFill>
                <a:latin typeface="210 디딤고딕 Bold"/>
                <a:ea typeface="210 디딤고딕 Bold"/>
                <a:cs typeface="210 디딤고딕 Bold"/>
                <a:sym typeface="210 디딤고딕 Bold"/>
              </a:rPr>
              <a:t>항성의 진화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273385" y="7046569"/>
            <a:ext cx="3738977" cy="48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90"/>
              </a:lnSpc>
              <a:spcBef>
                <a:spcPct val="0"/>
              </a:spcBef>
            </a:pPr>
            <a:r>
              <a:rPr lang="en-US" sz="2673">
                <a:solidFill>
                  <a:srgbClr val="FBFDFF"/>
                </a:solidFill>
                <a:latin typeface="210 디딤고딕 Bold"/>
                <a:ea typeface="210 디딤고딕 Bold"/>
                <a:cs typeface="210 디딤고딕 Bold"/>
                <a:sym typeface="210 디딤고딕 Bold"/>
              </a:rPr>
              <a:t>물결파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934677" y="7046569"/>
            <a:ext cx="3738977" cy="48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90"/>
              </a:lnSpc>
              <a:spcBef>
                <a:spcPct val="0"/>
              </a:spcBef>
            </a:pPr>
            <a:r>
              <a:rPr lang="en-US" sz="2673">
                <a:solidFill>
                  <a:srgbClr val="FBFDFF"/>
                </a:solidFill>
                <a:latin typeface="210 디딤고딕 Bold"/>
                <a:ea typeface="210 디딤고딕 Bold"/>
                <a:cs typeface="210 디딤고딕 Bold"/>
                <a:sym typeface="210 디딤고딕 Bold"/>
              </a:rPr>
              <a:t>행성의 겉보기 운동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43892" y="8813315"/>
            <a:ext cx="2710668" cy="271066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19319D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1147265"/>
            <a:ext cx="16230600" cy="0"/>
          </a:xfrm>
          <a:prstGeom prst="line">
            <a:avLst/>
          </a:prstGeom>
          <a:ln cap="flat" w="28575">
            <a:solidFill>
              <a:srgbClr val="193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283740" y="8037559"/>
            <a:ext cx="1372131" cy="1357163"/>
          </a:xfrm>
          <a:custGeom>
            <a:avLst/>
            <a:gdLst/>
            <a:ahLst/>
            <a:cxnLst/>
            <a:rect r="r" b="b" t="t" l="l"/>
            <a:pathLst>
              <a:path h="1357163" w="1372131">
                <a:moveTo>
                  <a:pt x="0" y="0"/>
                </a:moveTo>
                <a:lnTo>
                  <a:pt x="1372131" y="0"/>
                </a:lnTo>
                <a:lnTo>
                  <a:pt x="1372131" y="1357163"/>
                </a:lnTo>
                <a:lnTo>
                  <a:pt x="0" y="13571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339982" y="1428253"/>
            <a:ext cx="2679964" cy="26799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571500" cap="sq">
              <a:solidFill>
                <a:srgbClr val="19319D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0921" y="3820384"/>
            <a:ext cx="3937864" cy="3556755"/>
            <a:chOff x="0" y="0"/>
            <a:chExt cx="1168915" cy="10557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68915" cy="1055787"/>
            </a:xfrm>
            <a:custGeom>
              <a:avLst/>
              <a:gdLst/>
              <a:ahLst/>
              <a:cxnLst/>
              <a:rect r="r" b="b" t="t" l="l"/>
              <a:pathLst>
                <a:path h="1055787" w="1168915">
                  <a:moveTo>
                    <a:pt x="0" y="0"/>
                  </a:moveTo>
                  <a:lnTo>
                    <a:pt x="965715" y="0"/>
                  </a:lnTo>
                  <a:lnTo>
                    <a:pt x="1168915" y="527894"/>
                  </a:lnTo>
                  <a:lnTo>
                    <a:pt x="965715" y="1055787"/>
                  </a:lnTo>
                  <a:lnTo>
                    <a:pt x="0" y="1055787"/>
                  </a:lnTo>
                  <a:lnTo>
                    <a:pt x="203200" y="527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19D">
                <a:alpha val="9804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-76200"/>
              <a:ext cx="914915" cy="1131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300352" y="3820384"/>
            <a:ext cx="3937864" cy="3556755"/>
            <a:chOff x="0" y="0"/>
            <a:chExt cx="1168915" cy="10557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8915" cy="1055787"/>
            </a:xfrm>
            <a:custGeom>
              <a:avLst/>
              <a:gdLst/>
              <a:ahLst/>
              <a:cxnLst/>
              <a:rect r="r" b="b" t="t" l="l"/>
              <a:pathLst>
                <a:path h="1055787" w="1168915">
                  <a:moveTo>
                    <a:pt x="0" y="0"/>
                  </a:moveTo>
                  <a:lnTo>
                    <a:pt x="965715" y="0"/>
                  </a:lnTo>
                  <a:lnTo>
                    <a:pt x="1168915" y="527894"/>
                  </a:lnTo>
                  <a:lnTo>
                    <a:pt x="965715" y="1055787"/>
                  </a:lnTo>
                  <a:lnTo>
                    <a:pt x="0" y="1055787"/>
                  </a:lnTo>
                  <a:lnTo>
                    <a:pt x="203200" y="527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19D">
                <a:alpha val="8000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76200"/>
              <a:ext cx="914915" cy="1131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049784" y="3820384"/>
            <a:ext cx="3937864" cy="3556755"/>
            <a:chOff x="0" y="0"/>
            <a:chExt cx="1168915" cy="105578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8915" cy="1055787"/>
            </a:xfrm>
            <a:custGeom>
              <a:avLst/>
              <a:gdLst/>
              <a:ahLst/>
              <a:cxnLst/>
              <a:rect r="r" b="b" t="t" l="l"/>
              <a:pathLst>
                <a:path h="1055787" w="1168915">
                  <a:moveTo>
                    <a:pt x="0" y="0"/>
                  </a:moveTo>
                  <a:lnTo>
                    <a:pt x="965715" y="0"/>
                  </a:lnTo>
                  <a:lnTo>
                    <a:pt x="1168915" y="527894"/>
                  </a:lnTo>
                  <a:lnTo>
                    <a:pt x="965715" y="1055787"/>
                  </a:lnTo>
                  <a:lnTo>
                    <a:pt x="0" y="1055787"/>
                  </a:lnTo>
                  <a:lnTo>
                    <a:pt x="203200" y="527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19D">
                <a:alpha val="9804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76200"/>
              <a:ext cx="914915" cy="1131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799215" y="3820384"/>
            <a:ext cx="3937864" cy="3556755"/>
            <a:chOff x="0" y="0"/>
            <a:chExt cx="1168915" cy="105578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68915" cy="1055787"/>
            </a:xfrm>
            <a:custGeom>
              <a:avLst/>
              <a:gdLst/>
              <a:ahLst/>
              <a:cxnLst/>
              <a:rect r="r" b="b" t="t" l="l"/>
              <a:pathLst>
                <a:path h="1055787" w="1168915">
                  <a:moveTo>
                    <a:pt x="0" y="0"/>
                  </a:moveTo>
                  <a:lnTo>
                    <a:pt x="965715" y="0"/>
                  </a:lnTo>
                  <a:lnTo>
                    <a:pt x="1168915" y="527894"/>
                  </a:lnTo>
                  <a:lnTo>
                    <a:pt x="965715" y="1055787"/>
                  </a:lnTo>
                  <a:lnTo>
                    <a:pt x="0" y="1055787"/>
                  </a:lnTo>
                  <a:lnTo>
                    <a:pt x="203200" y="527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19D">
                <a:alpha val="8000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76200"/>
              <a:ext cx="914915" cy="1131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1550921" y="8448722"/>
            <a:ext cx="14620107" cy="0"/>
          </a:xfrm>
          <a:prstGeom prst="line">
            <a:avLst/>
          </a:prstGeom>
          <a:ln cap="flat" w="28575">
            <a:solidFill>
              <a:srgbClr val="1931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3342986" y="8348774"/>
            <a:ext cx="176866" cy="17686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319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092418" y="8348774"/>
            <a:ext cx="176866" cy="176866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319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30283" y="8348774"/>
            <a:ext cx="176866" cy="176866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319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679714" y="8348774"/>
            <a:ext cx="176866" cy="176866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319D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4948270" y="1923766"/>
            <a:ext cx="8391461" cy="111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55"/>
              </a:lnSpc>
              <a:spcBef>
                <a:spcPct val="0"/>
              </a:spcBef>
            </a:pPr>
            <a:r>
              <a:rPr lang="en-US" sz="7199">
                <a:solidFill>
                  <a:srgbClr val="19319D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추후 발전 계획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069690" y="4702994"/>
            <a:ext cx="3077958" cy="150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19"/>
              </a:lnSpc>
              <a:spcBef>
                <a:spcPct val="0"/>
              </a:spcBef>
            </a:pPr>
            <a:r>
              <a:rPr lang="en-US" b="true" sz="3999">
                <a:solidFill>
                  <a:srgbClr val="0B1544"/>
                </a:solidFill>
                <a:latin typeface="Source Han Sans KR Heavy"/>
                <a:ea typeface="Source Han Sans KR Heavy"/>
                <a:cs typeface="Source Han Sans KR Heavy"/>
                <a:sym typeface="Source Han Sans KR Heavy"/>
              </a:rPr>
              <a:t>현제 발견한 버그 수정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911676" y="4702994"/>
            <a:ext cx="3138108" cy="150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9"/>
              </a:lnSpc>
            </a:pPr>
            <a:r>
              <a:rPr lang="en-US" sz="3999" b="true">
                <a:solidFill>
                  <a:srgbClr val="FBFDFF"/>
                </a:solidFill>
                <a:latin typeface="Source Han Sans KR Heavy"/>
                <a:ea typeface="Source Han Sans KR Heavy"/>
                <a:cs typeface="Source Han Sans KR Heavy"/>
                <a:sym typeface="Source Han Sans KR Heavy"/>
              </a:rPr>
              <a:t>완성된 실험 </a:t>
            </a:r>
          </a:p>
          <a:p>
            <a:pPr algn="ctr" marL="0" indent="0" lvl="0">
              <a:lnSpc>
                <a:spcPts val="6119"/>
              </a:lnSpc>
              <a:spcBef>
                <a:spcPct val="0"/>
              </a:spcBef>
            </a:pPr>
            <a:r>
              <a:rPr lang="en-US" b="true" sz="3999">
                <a:solidFill>
                  <a:srgbClr val="FBFDFF"/>
                </a:solidFill>
                <a:latin typeface="Source Han Sans KR Heavy"/>
                <a:ea typeface="Source Han Sans KR Heavy"/>
                <a:cs typeface="Source Han Sans KR Heavy"/>
                <a:sym typeface="Source Han Sans KR Heavy"/>
              </a:rPr>
              <a:t>구체화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43016" y="4702994"/>
            <a:ext cx="3077958" cy="150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9"/>
              </a:lnSpc>
            </a:pPr>
            <a:r>
              <a:rPr lang="en-US" sz="3999" b="true">
                <a:solidFill>
                  <a:srgbClr val="0B1544"/>
                </a:solidFill>
                <a:latin typeface="Source Han Sans KR Heavy"/>
                <a:ea typeface="Source Han Sans KR Heavy"/>
                <a:cs typeface="Source Han Sans KR Heavy"/>
                <a:sym typeface="Source Han Sans KR Heavy"/>
              </a:rPr>
              <a:t>추가적인</a:t>
            </a:r>
          </a:p>
          <a:p>
            <a:pPr algn="ctr" marL="0" indent="0" lvl="0">
              <a:lnSpc>
                <a:spcPts val="6119"/>
              </a:lnSpc>
              <a:spcBef>
                <a:spcPct val="0"/>
              </a:spcBef>
            </a:pPr>
            <a:r>
              <a:rPr lang="en-US" b="true" sz="3999">
                <a:solidFill>
                  <a:srgbClr val="0B1544"/>
                </a:solidFill>
                <a:latin typeface="Source Han Sans KR Heavy"/>
                <a:ea typeface="Source Han Sans KR Heavy"/>
                <a:cs typeface="Source Han Sans KR Heavy"/>
                <a:sym typeface="Source Han Sans KR Heavy"/>
              </a:rPr>
              <a:t>실험 추가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482948" y="5088757"/>
            <a:ext cx="3077958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19"/>
              </a:lnSpc>
              <a:spcBef>
                <a:spcPct val="0"/>
              </a:spcBef>
            </a:pPr>
            <a:r>
              <a:rPr lang="en-US" b="true" sz="3999">
                <a:solidFill>
                  <a:srgbClr val="FBFDFF"/>
                </a:solidFill>
                <a:latin typeface="Source Han Sans KR Heavy"/>
                <a:ea typeface="Source Han Sans KR Heavy"/>
                <a:cs typeface="Source Han Sans KR Heavy"/>
                <a:sym typeface="Source Han Sans KR Heavy"/>
              </a:rPr>
              <a:t>실행 및 평가</a:t>
            </a:r>
          </a:p>
        </p:txBody>
      </p:sp>
      <p:sp>
        <p:nvSpPr>
          <p:cNvPr name="AutoShape 40" id="40"/>
          <p:cNvSpPr/>
          <p:nvPr/>
        </p:nvSpPr>
        <p:spPr>
          <a:xfrm flipV="true">
            <a:off x="3445707" y="7377138"/>
            <a:ext cx="0" cy="1048554"/>
          </a:xfrm>
          <a:prstGeom prst="line">
            <a:avLst/>
          </a:prstGeom>
          <a:ln cap="flat" w="28575">
            <a:solidFill>
              <a:srgbClr val="19319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flipV="true">
            <a:off x="7180851" y="7377138"/>
            <a:ext cx="0" cy="1048554"/>
          </a:xfrm>
          <a:prstGeom prst="line">
            <a:avLst/>
          </a:prstGeom>
          <a:ln cap="flat" w="28575">
            <a:solidFill>
              <a:srgbClr val="19319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flipV="true">
            <a:off x="11004428" y="7377138"/>
            <a:ext cx="0" cy="1048554"/>
          </a:xfrm>
          <a:prstGeom prst="line">
            <a:avLst/>
          </a:prstGeom>
          <a:ln cap="flat" w="28575">
            <a:solidFill>
              <a:srgbClr val="19319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flipH="true" flipV="true">
            <a:off x="14753860" y="7377138"/>
            <a:ext cx="0" cy="995258"/>
          </a:xfrm>
          <a:prstGeom prst="line">
            <a:avLst/>
          </a:prstGeom>
          <a:ln cap="flat" w="28575">
            <a:solidFill>
              <a:srgbClr val="19319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44" id="44"/>
          <p:cNvSpPr txBox="true"/>
          <p:nvPr/>
        </p:nvSpPr>
        <p:spPr>
          <a:xfrm rot="0">
            <a:off x="12802003" y="476747"/>
            <a:ext cx="4457297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19319D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Page 09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95847" y="7423337"/>
            <a:ext cx="2863663" cy="28636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19319D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9319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31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716351" y="1942816"/>
            <a:ext cx="3432702" cy="343270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571500" cap="sq">
              <a:solidFill>
                <a:srgbClr val="19319D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28700" y="1147265"/>
            <a:ext cx="16230600" cy="0"/>
          </a:xfrm>
          <a:prstGeom prst="line">
            <a:avLst/>
          </a:prstGeom>
          <a:ln cap="flat" w="28575">
            <a:solidFill>
              <a:srgbClr val="193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8796734" y="4453276"/>
            <a:ext cx="694532" cy="0"/>
          </a:xfrm>
          <a:prstGeom prst="line">
            <a:avLst/>
          </a:prstGeom>
          <a:ln cap="flat" w="28575">
            <a:solidFill>
              <a:srgbClr val="193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5809723" y="6603796"/>
            <a:ext cx="1449577" cy="1433763"/>
          </a:xfrm>
          <a:custGeom>
            <a:avLst/>
            <a:gdLst/>
            <a:ahLst/>
            <a:cxnLst/>
            <a:rect r="r" b="b" t="t" l="l"/>
            <a:pathLst>
              <a:path h="1433763" w="1449577">
                <a:moveTo>
                  <a:pt x="0" y="0"/>
                </a:moveTo>
                <a:lnTo>
                  <a:pt x="1449577" y="0"/>
                </a:lnTo>
                <a:lnTo>
                  <a:pt x="1449577" y="1433763"/>
                </a:lnTo>
                <a:lnTo>
                  <a:pt x="0" y="14337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860922" y="4739848"/>
            <a:ext cx="12566156" cy="161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3"/>
              </a:lnSpc>
            </a:pPr>
            <a:r>
              <a:rPr lang="en-US" sz="10381">
                <a:solidFill>
                  <a:srgbClr val="19319D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감사합니다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53608" y="9557702"/>
            <a:ext cx="1380785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BFDFF"/>
                </a:solidFill>
                <a:latin typeface="210 디딤고딕 Bold"/>
                <a:ea typeface="210 디딤고딕 Bold"/>
                <a:cs typeface="210 디딤고딕 Bold"/>
                <a:sym typeface="210 디딤고딕 Bold"/>
              </a:rPr>
              <a:t>오버플로우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90350" y="3602017"/>
            <a:ext cx="8707299" cy="4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71"/>
              </a:lnSpc>
              <a:spcBef>
                <a:spcPct val="0"/>
              </a:spcBef>
            </a:pPr>
            <a:r>
              <a:rPr lang="en-US" sz="2837">
                <a:solidFill>
                  <a:srgbClr val="0B1544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DAHOzLnihuM</dc:identifier>
  <dcterms:modified xsi:type="dcterms:W3CDTF">2011-08-01T06:04:30Z</dcterms:modified>
  <cp:revision>1</cp:revision>
  <dc:title>중간발표_오버플로우</dc:title>
</cp:coreProperties>
</file>